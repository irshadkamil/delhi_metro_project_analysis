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58" r:id="rId4"/>
  </p:sldMasterIdLst>
  <p:notesMasterIdLst>
    <p:notesMasterId r:id="rId17"/>
  </p:notesMasterIdLst>
  <p:handoutMasterIdLst>
    <p:handoutMasterId r:id="rId18"/>
  </p:handoutMasterIdLst>
  <p:sldIdLst>
    <p:sldId id="325" r:id="rId5"/>
    <p:sldId id="342" r:id="rId6"/>
    <p:sldId id="343" r:id="rId7"/>
    <p:sldId id="344" r:id="rId8"/>
    <p:sldId id="345" r:id="rId9"/>
    <p:sldId id="312" r:id="rId10"/>
    <p:sldId id="346" r:id="rId11"/>
    <p:sldId id="347" r:id="rId12"/>
    <p:sldId id="348" r:id="rId13"/>
    <p:sldId id="349" r:id="rId14"/>
    <p:sldId id="350" r:id="rId15"/>
    <p:sldId id="32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96E9AB-9361-4160-BF3C-69BD85E49E8C}" v="1024" dt="2025-11-16T18:45:28.149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5" autoAdjust="0"/>
    <p:restoredTop sz="95394" autoAdjust="0"/>
  </p:normalViewPr>
  <p:slideViewPr>
    <p:cSldViewPr snapToGrid="0">
      <p:cViewPr varScale="1">
        <p:scale>
          <a:sx n="109" d="100"/>
          <a:sy n="109" d="100"/>
        </p:scale>
        <p:origin x="69" y="441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A9AF-C218-5AD4-F373-E810D19F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FE662-5E4D-3F7C-1255-819742B73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4C103-4D80-8AE7-ED5D-D97CEF355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8361A-2EED-F926-B62A-23ADE82F1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348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94E9-85D0-8A81-7DC8-3909ED33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E9072-34C3-867C-2424-47E5F07FD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44ADD-220D-B8E1-D7DE-05008EBED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C554A-5018-9A77-6405-5DF4B1454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66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339E-5A24-BAAE-DACE-B98D3E73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A8FFA-7102-E412-ED36-E4E97B8E2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A8C3A-D26A-C1D7-E184-0CD3FE2CB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10EB1-AEAC-FFD4-2A0D-5E9408E1C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315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7845-AEC6-17B5-BD69-C8B1DD0D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CAB8D-3229-0927-9B0E-FFC459B6D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C02AC-F569-37B3-DD80-6D3A9550A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0EAAB-FE5E-1DBD-FDD4-28918B0F7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16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7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1D3B1-D710-97BB-0DBE-699404A9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DDCB3-EF39-7509-70A7-B908C59AE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74BAA-D38E-C9E9-7DBD-3C5E2D6ED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F24CC-FA36-4A51-B1CF-4DDC8CF80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33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D6A1-7C95-A0E6-3304-EA9071171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9B2C7-F282-810E-A891-4D0B65CCE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A6FC2-0967-65D3-3C9D-B6F35D5B5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93E45-CA30-AA57-100D-3D57A4B91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13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5C8B7-B21F-E558-7101-E1EA527F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1C515-A85F-C848-3EBD-BBBDFEEFA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D901E-20D7-E1DB-B946-2F2F7E9F5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FB5E6-05A5-3549-6E5E-FDA216017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25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8F7D1-B90C-926C-34E4-3F8C95FB9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90C6D-EBD5-9959-D6C2-02C4635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5BD64-7DA8-6E9B-C5FD-4D6A7DA51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40E72-0588-C12F-677A-6C5384E3B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215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31C6-F962-5819-863A-4B4CDF65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82FE1-611E-2A87-7940-520A5FE3D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503F7-9A8B-2BDD-FE31-19FF82414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9D0EF-6EA5-E5A0-82A3-79EE8B872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148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4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713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4248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623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2737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3503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18707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8823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4303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540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844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4382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0805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970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03442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15B1A-CA14-E219-0C7F-0B38B168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BA35BB-6689-91C0-7D75-944092B3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949B5-8206-3159-8E9E-E95F2A9A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7BFBC-DA17-6BEB-A937-333E9504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9A5C70-EFC4-1BAB-285F-B317FAF47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73F905-5A3E-F9EB-B095-7A3A17C1E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249" t="13424" r="28018" b="11087"/>
          <a:stretch/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48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753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6501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4429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05342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C4E27-95CA-78A5-BD7A-6109D75C8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AE4F7BC-B724-2456-4104-1C5E254EEF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2178" y="2198914"/>
            <a:ext cx="6487908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62189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408E76-0AE4-495F-87FB-5DD280A9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561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130D9-40F7-D817-3F42-72C9D5857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43" y="667582"/>
            <a:ext cx="5102717" cy="2482018"/>
          </a:xfrm>
        </p:spPr>
        <p:txBody>
          <a:bodyPr anchor="t" anchorCtr="0">
            <a:no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8A7439-0E5E-18D2-A4C7-D377032ED25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668964" y="667582"/>
            <a:ext cx="5827220" cy="2482018"/>
          </a:xfrm>
        </p:spPr>
        <p:txBody>
          <a:bodyPr tIns="9144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3471630-9EC8-4C68-B4D8-D98C242DBE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3843" y="3362959"/>
            <a:ext cx="11102339" cy="2827459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B3B490-399A-EF1F-9626-CCCE0F5FF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311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3" y="365760"/>
            <a:ext cx="11067089" cy="1325880"/>
          </a:xfrm>
        </p:spPr>
        <p:txBody>
          <a:bodyPr anchor="ctr">
            <a:normAutofit/>
          </a:bodyPr>
          <a:lstStyle>
            <a:lvl1pPr>
              <a:lnSpc>
                <a:spcPts val="2800"/>
              </a:lnSpc>
              <a:spcBef>
                <a:spcPts val="1000"/>
              </a:spcBef>
              <a:defRPr sz="4400" b="0" i="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BF945-F985-4A89-9868-A82E90E10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7B33CF-0773-56F3-9F3B-1619AA666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24" y="2189377"/>
            <a:ext cx="3568990" cy="3517679"/>
          </a:xfrm>
        </p:spPr>
        <p:txBody>
          <a:bodyPr tIns="0" b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B4A43A1-5A81-D0D1-BD71-0485EDDD4CC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01469" y="2189377"/>
            <a:ext cx="6565769" cy="351768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A39699-E09B-80CC-75A3-1A20865AB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47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A46AB-E26C-4F66-A0B8-4CDBD5F40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834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61904" cy="132556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02F1FD3-6A03-65D9-EE3B-3A0AE0FD8D8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0688" y="2189377"/>
            <a:ext cx="10661840" cy="34909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81647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DEB7A-D103-487A-8C1B-9145FB24B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sz="4800" dirty="0"/>
              <a:t>Click to add title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017A3E-25F7-41D5-AABB-24D0E2673A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5C0C26-4C66-47DC-B079-5B94C22F1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E30B1-7066-9D31-7A11-7B81B65D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E672D-C862-C853-0730-15E3C4953D67}"/>
              </a:ext>
            </a:extLst>
          </p:cNvPr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0336ED-3DCB-4524-8A3F-9FBBD0B18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15F86B-1A6A-ECD5-F63A-4280BADEF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5534F0-444E-1FA5-FC8F-F04505FC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19972F-DA18-8749-FF59-A83CA1E1F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67D80A1-B7E7-2F80-975E-2E87C591BB67}"/>
              </a:ext>
            </a:extLst>
          </p:cNvPr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88F6AB-6890-F7DE-7C01-CE237F778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6575E3-45E3-206E-9037-D8FD562B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E4BC31-600E-ECD3-1E7F-FE4F6F720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3F8CA839-B327-1ECD-C35D-02164F5BBD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706" t="12194" r="49126" b="12256"/>
          <a:stretch/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A97957-D274-4D24-1862-D53BF728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790" t="12194" r="70042" b="12256"/>
          <a:stretch/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2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5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876" r:id="rId18"/>
    <p:sldLayoutId id="2147483877" r:id="rId19"/>
    <p:sldLayoutId id="2147483878" r:id="rId20"/>
    <p:sldLayoutId id="2147483879" r:id="rId21"/>
    <p:sldLayoutId id="2147483880" r:id="rId22"/>
    <p:sldLayoutId id="2147483881" r:id="rId23"/>
    <p:sldLayoutId id="2147483882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46" y="831031"/>
            <a:ext cx="9696509" cy="2911826"/>
          </a:xfrm>
        </p:spPr>
        <p:txBody>
          <a:bodyPr/>
          <a:lstStyle/>
          <a:p>
            <a:r>
              <a:rPr lang="en-US" sz="6600" b="1" dirty="0"/>
              <a:t>Delhi Metro Data Analysis Project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7B25DA-60A8-F608-CBFF-44674C183620}"/>
              </a:ext>
            </a:extLst>
          </p:cNvPr>
          <p:cNvSpPr txBox="1"/>
          <p:nvPr/>
        </p:nvSpPr>
        <p:spPr>
          <a:xfrm>
            <a:off x="1650537" y="4289501"/>
            <a:ext cx="910133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Data Cleaning &amp; Visualization | Python |Pandas  | Matplotlib                   |NumPy| Seaborn </a:t>
            </a:r>
            <a:br>
              <a:rPr lang="en-US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D90C-BBAC-FDDA-DECB-2B05D22F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3F7E-F43E-B0B4-2F1B-9661C323A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9733538" cy="1325563"/>
          </a:xfrm>
        </p:spPr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65656-12E2-3C0A-7500-B370A9DF2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3" cy="3998458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Conduct a comprehensive analysis of the Delhi Metro trip dataset.</a:t>
            </a: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Examine ridership trends, fare structures, station activity, and revenue patterns.</a:t>
            </a: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Perform data preprocessing, including handling missing values and ensuring data quality.</a:t>
            </a:r>
          </a:p>
          <a:p>
            <a:pPr marL="285750" indent="-285750"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Visualize key insights and trends using Matplotlib and Seaborn to support data-driven conclusions.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250D358-CA19-110B-7A01-8E8459996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DDB906-FA49-00E7-16E3-C4387372E584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3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E57E-0882-EC18-4601-729F3396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D823-CFE9-BA3D-D954-305AD97F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9733538" cy="1325563"/>
          </a:xfrm>
        </p:spPr>
        <p:txBody>
          <a:bodyPr/>
          <a:lstStyle/>
          <a:p>
            <a:r>
              <a:rPr lang="en-US" b="1" dirty="0"/>
              <a:t>Dataset Overview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7DB0-7016-FC40-6256-866EF139E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3" cy="4675791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The dataset includes the following key columns: </a:t>
            </a:r>
            <a:r>
              <a:rPr lang="en-US" sz="2800" i="1" dirty="0">
                <a:solidFill>
                  <a:schemeClr val="tx1"/>
                </a:solidFill>
                <a:ea typeface="+mn-lt"/>
                <a:cs typeface="+mn-lt"/>
              </a:rPr>
              <a:t>From_Station, To_Station, Fare, Distance_km, Passengers, Ticket_Type, Remarks, Date, 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and </a:t>
            </a:r>
            <a:r>
              <a:rPr lang="en-US" sz="2800" i="1" dirty="0">
                <a:solidFill>
                  <a:schemeClr val="tx1"/>
                </a:solidFill>
                <a:ea typeface="+mn-lt"/>
                <a:cs typeface="+mn-lt"/>
              </a:rPr>
              <a:t>Profit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Performed an initial assessment using functions such as df.head(), df.info(),and df.shape() to understand structure and data types.</a:t>
            </a:r>
          </a:p>
          <a:p>
            <a:pPr marL="285750" indent="-285750">
              <a:buFont typeface="Arial,Sans-Serif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Converted the 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‘Date’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column to a proper datetime format to enable accurate time-based analysis.</a:t>
            </a:r>
          </a:p>
          <a:p>
            <a:pPr marL="285750" indent="-285750">
              <a:buFont typeface="Arial,Sans-Serif"/>
              <a:buChar char="•"/>
            </a:pPr>
            <a:endParaRPr lang="en-US" sz="28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C6C626A-0728-B240-1ABF-CE999EEFF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798FAC-46A9-1F4F-B6ED-766049B50CE9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73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9E878-13CC-E121-E881-4DB875F1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3430-B043-9A2B-B332-5B83DA5D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9733538" cy="1325563"/>
          </a:xfrm>
        </p:spPr>
        <p:txBody>
          <a:bodyPr/>
          <a:lstStyle/>
          <a:p>
            <a:r>
              <a:rPr lang="en-US" b="1" dirty="0"/>
              <a:t>Missing Values &amp; Cleaning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A652-055F-93B4-A02F-6F36C82EB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4" cy="3998458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 Conducted an assessment of missing values using </a:t>
            </a:r>
            <a:r>
              <a:rPr lang="en-US" sz="2800" dirty="0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df.isnull().sum()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 Imputed missing values in 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Ticket_Type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using the 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mode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 Imputed missing values in 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Passengers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using the 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median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 Imputed missing values in 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Remarks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 using the 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mode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 Removed leading and trailing whitespace from station names.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3414793-5DB5-3B7C-750A-14B5D5101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03E743-34FA-BEBB-23DA-5D36830586CA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00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8A93-BE6F-62F5-A025-57F2582C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A605A-9B0C-B918-ADEC-216CDD5F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9733538" cy="950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Top 10 From Stations By Trip Count– Insights :</a:t>
            </a:r>
          </a:p>
        </p:txBody>
      </p:sp>
      <p:pic>
        <p:nvPicPr>
          <p:cNvPr id="5" name="Content Placeholder 4" descr="A graph of a number of stations&#10;&#10;AI-generated content may be incorrect.">
            <a:extLst>
              <a:ext uri="{FF2B5EF4-FFF2-40B4-BE49-F238E27FC236}">
                <a16:creationId xmlns:a16="http://schemas.microsoft.com/office/drawing/2014/main" id="{A295908F-1E61-4B5F-3781-4ED334F0F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014" y="1135686"/>
            <a:ext cx="10390925" cy="54937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89740A9E-D53B-8758-5DD3-333778269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D1433C-9101-F187-A130-AAC5C56DB098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587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1794-986C-4679-93EA-5F3C3EE6C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9733538" cy="805468"/>
          </a:xfrm>
        </p:spPr>
        <p:txBody>
          <a:bodyPr/>
          <a:lstStyle/>
          <a:p>
            <a:r>
              <a:rPr lang="en-US" b="1" dirty="0"/>
              <a:t>Most Busiest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403B-F6A5-4855-B204-4A9D1F5B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3" cy="4494363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endParaRPr lang="en-US" sz="2400" dirty="0"/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253F77DE-9A00-003D-3E35-AA011DA6A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AD73156-2390-BB42-48B5-818ECA165475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7AEE5E3B-CC2C-F426-563B-43AD2B928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0" y="994076"/>
            <a:ext cx="10424129" cy="554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2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527E-1D77-D682-24C9-15A4CF9B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EAAF-EDFB-AE82-0ED4-589AC90F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2269"/>
            <a:ext cx="9733538" cy="1398133"/>
          </a:xfrm>
        </p:spPr>
        <p:txBody>
          <a:bodyPr>
            <a:normAutofit/>
          </a:bodyPr>
          <a:lstStyle/>
          <a:p>
            <a:r>
              <a:rPr lang="en-US" b="1" dirty="0"/>
              <a:t>Fare Distribution – Insights:</a:t>
            </a:r>
            <a:br>
              <a:rPr lang="en-US" b="1" dirty="0"/>
            </a:br>
            <a:r>
              <a:rPr lang="en-US" b="1" dirty="0"/>
              <a:t>Show Fare Range &amp;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25922-88CC-A25F-3E2E-CE865A33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3" cy="3998458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D544E4CE-DDA1-9CFE-0FF4-510327309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2A88D3A-592E-98EA-FC41-59C5BEE593BF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8F054-2A95-695A-6FB8-405CB03A7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38" y="1408339"/>
            <a:ext cx="10319354" cy="532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6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8ABC6-1BCD-9CBB-E143-B2ABD587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329A-8847-205A-31B3-2E19586A2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9733538" cy="938516"/>
          </a:xfrm>
        </p:spPr>
        <p:txBody>
          <a:bodyPr/>
          <a:lstStyle/>
          <a:p>
            <a:r>
              <a:rPr lang="en-US" b="1" dirty="0"/>
              <a:t>Distance vs Fare –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148D8-9976-B51C-89F8-591033B59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3" cy="3998458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 marL="285750" indent="-285750">
              <a:buFont typeface="Arial,Sans-Serif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5DDCC51-6E9D-F1FF-69D5-7725F9B8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894154-4C2D-2CF7-F833-3705BD9DFC5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A chart of orange dots&#10;&#10;AI-generated content may be incorrect.">
            <a:extLst>
              <a:ext uri="{FF2B5EF4-FFF2-40B4-BE49-F238E27FC236}">
                <a16:creationId xmlns:a16="http://schemas.microsoft.com/office/drawing/2014/main" id="{54BDDBA4-69F8-C4B3-D281-9E51B0089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96" y="1142245"/>
            <a:ext cx="10187969" cy="535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8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6EB0-07DA-4589-7DED-B03522F9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FD9B-ED6A-1494-132B-556DBC09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10181061" cy="902230"/>
          </a:xfrm>
        </p:spPr>
        <p:txBody>
          <a:bodyPr/>
          <a:lstStyle/>
          <a:p>
            <a:r>
              <a:rPr lang="en-US" b="1" dirty="0"/>
              <a:t>7-Day Rolling Average Of Total Daily Profit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9E85-F237-01ED-906D-00E6E6B24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3" cy="3998458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E3039B4-3EE1-C35E-29FF-42C566047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7AF8A9D-DECA-56B3-EA75-B6FE7F159D92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 descr="A graph of blue lines&#10;&#10;AI-generated content may be incorrect.">
            <a:extLst>
              <a:ext uri="{FF2B5EF4-FFF2-40B4-BE49-F238E27FC236}">
                <a16:creationId xmlns:a16="http://schemas.microsoft.com/office/drawing/2014/main" id="{91D84DE5-BEDA-B390-6E21-6747D74AF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02" y="1102330"/>
            <a:ext cx="9998377" cy="557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6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9137-66E0-AFFD-C810-1CF7BA960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E331-E0A3-E73F-181C-B4042B50A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9733538" cy="1325563"/>
          </a:xfrm>
        </p:spPr>
        <p:txBody>
          <a:bodyPr/>
          <a:lstStyle/>
          <a:p>
            <a:r>
              <a:rPr lang="en-US" b="1" dirty="0"/>
              <a:t>Ticket Type Share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8D08-202C-2580-6629-0638BA5C0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3" cy="3998458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F00140A-D56B-4687-EC31-D7E6C5C37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E35D86-9FDD-A45C-0828-72BC14CF617B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 descr="A pie chart of a ticket type&#10;&#10;AI-generated content may be incorrect.">
            <a:extLst>
              <a:ext uri="{FF2B5EF4-FFF2-40B4-BE49-F238E27FC236}">
                <a16:creationId xmlns:a16="http://schemas.microsoft.com/office/drawing/2014/main" id="{B15F8C3C-58A3-F248-DAAE-4AA40443C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683" y="1185938"/>
            <a:ext cx="6339870" cy="569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3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B23B-B3F5-A781-D54B-B8198FD32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9783-44AA-410C-B89C-95ED800BE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195792"/>
            <a:ext cx="9733538" cy="1325563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B70E9-49A6-DF70-227A-922CF2694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521582"/>
            <a:ext cx="9741183" cy="5123315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Data cleaned using mode and median.</a:t>
            </a: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Identified busiest stations and high-demand areas.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Clear link found between distance and fare.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Profit trends mostly stable with periodic changes.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  Visual analysis improved understanding of commuter and revenue  patterns.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8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146D7F5-09E8-AE8F-ABD0-165A44DA0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72A0EAF-74A7-AD84-8CD9-DCECEE6CEE6B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892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1F15-46F5-4A2B-AF38-34F3B802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A4C54-B3B2-4B02-A340-C72E57FE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02" y="3427319"/>
            <a:ext cx="5228392" cy="166323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Irshad Ansari</a:t>
            </a:r>
          </a:p>
          <a:p>
            <a:r>
              <a:rPr lang="en-US" sz="2400" dirty="0"/>
              <a:t>+91 8528060397</a:t>
            </a:r>
          </a:p>
          <a:p>
            <a:r>
              <a:rPr lang="en-US" sz="2400" dirty="0"/>
              <a:t>irshadansari19061999@gmail.com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4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6D0E89-8FE5-4564-B75D-6D6A80E926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66BB56-E71F-413C-A17E-3C61B4BD473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CCFBFAD-0D5C-4560-A0B6-6D94F8C673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OffsetVTI</Template>
  <TotalTime>0</TotalTime>
  <Words>426</Words>
  <Application>Microsoft Office PowerPoint</Application>
  <PresentationFormat>Widescreen</PresentationFormat>
  <Paragraphs>125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OffsetVTI</vt:lpstr>
      <vt:lpstr>Delhi Metro Data Analysis Project </vt:lpstr>
      <vt:lpstr>Project Overview</vt:lpstr>
      <vt:lpstr>Dataset Overview </vt:lpstr>
      <vt:lpstr>Missing Values &amp; Cleaning Steps</vt:lpstr>
      <vt:lpstr>Top 10 From Stations By Trip Count– Insights :</vt:lpstr>
      <vt:lpstr>Most Busiest Stations</vt:lpstr>
      <vt:lpstr>Fare Distribution – Insights: Show Fare Range &amp; Outliers</vt:lpstr>
      <vt:lpstr>Distance vs Fare – Insights:</vt:lpstr>
      <vt:lpstr>7-Day Rolling Average Of Total Daily Profit :</vt:lpstr>
      <vt:lpstr>Ticket Type Share 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393</cp:revision>
  <dcterms:created xsi:type="dcterms:W3CDTF">2025-11-16T05:07:53Z</dcterms:created>
  <dcterms:modified xsi:type="dcterms:W3CDTF">2025-11-16T18:46:59Z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